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7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7FB069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5" name="Shape 3"/>
          <p:cNvSpPr/>
          <p:nvPr/>
        </p:nvSpPr>
        <p:spPr>
          <a:xfrm>
            <a:off x="1609344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6" name="Shape 4"/>
          <p:cNvSpPr/>
          <p:nvPr/>
        </p:nvSpPr>
        <p:spPr>
          <a:xfrm>
            <a:off x="2505456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7" name="Shape 5"/>
          <p:cNvSpPr/>
          <p:nvPr/>
        </p:nvSpPr>
        <p:spPr>
          <a:xfrm>
            <a:off x="3401568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8" name="Shape 6"/>
          <p:cNvSpPr/>
          <p:nvPr/>
        </p:nvSpPr>
        <p:spPr>
          <a:xfrm>
            <a:off x="4297680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9" name="Shape 7"/>
          <p:cNvSpPr/>
          <p:nvPr/>
        </p:nvSpPr>
        <p:spPr>
          <a:xfrm>
            <a:off x="5193792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0" name="Shape 8"/>
          <p:cNvSpPr/>
          <p:nvPr/>
        </p:nvSpPr>
        <p:spPr>
          <a:xfrm>
            <a:off x="6089904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1" name="Shape 9"/>
          <p:cNvSpPr/>
          <p:nvPr/>
        </p:nvSpPr>
        <p:spPr>
          <a:xfrm>
            <a:off x="6986016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2" name="Shape 10"/>
          <p:cNvSpPr/>
          <p:nvPr/>
        </p:nvSpPr>
        <p:spPr>
          <a:xfrm>
            <a:off x="7882128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3" name="Shape 11"/>
          <p:cNvSpPr/>
          <p:nvPr/>
        </p:nvSpPr>
        <p:spPr>
          <a:xfrm>
            <a:off x="8778240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4" name="Shape 12"/>
          <p:cNvSpPr/>
          <p:nvPr/>
        </p:nvSpPr>
        <p:spPr>
          <a:xfrm>
            <a:off x="9674352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5" name="Shape 13"/>
          <p:cNvSpPr/>
          <p:nvPr/>
        </p:nvSpPr>
        <p:spPr>
          <a:xfrm>
            <a:off x="10570464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6" name="Shape 14"/>
          <p:cNvSpPr/>
          <p:nvPr/>
        </p:nvSpPr>
        <p:spPr>
          <a:xfrm>
            <a:off x="11466576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7" name="Shape 15"/>
          <p:cNvSpPr/>
          <p:nvPr/>
        </p:nvSpPr>
        <p:spPr>
          <a:xfrm>
            <a:off x="384048" y="6199632"/>
            <a:ext cx="182880" cy="274320"/>
          </a:xfrm>
          <a:prstGeom prst="roundRect">
            <a:avLst>
              <a:gd name="adj" fmla="val 30000"/>
            </a:avLst>
          </a:prstGeom>
          <a:solidFill>
            <a:srgbClr val="FFF7E8"/>
          </a:solidFill>
          <a:ln w="12700">
            <a:solidFill>
              <a:srgbClr val="D9BC9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7744" y="5961888"/>
            <a:ext cx="475488" cy="310896"/>
          </a:xfrm>
          <a:prstGeom prst="ellipse">
            <a:avLst/>
          </a:prstGeom>
          <a:solidFill>
            <a:srgbClr val="D86E62"/>
          </a:solidFill>
          <a:ln w="12700">
            <a:solidFill>
              <a:srgbClr val="C9906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9184" y="6016752"/>
            <a:ext cx="91440" cy="73152"/>
          </a:xfrm>
          <a:prstGeom prst="ellipse">
            <a:avLst/>
          </a:prstGeom>
          <a:solidFill>
            <a:srgbClr val="FFF6EC"/>
          </a:solidFill>
          <a:ln/>
        </p:spPr>
      </p:sp>
      <p:sp>
        <p:nvSpPr>
          <p:cNvPr id="20" name="Shape 18"/>
          <p:cNvSpPr/>
          <p:nvPr/>
        </p:nvSpPr>
        <p:spPr>
          <a:xfrm>
            <a:off x="512064" y="5989320"/>
            <a:ext cx="109728" cy="82296"/>
          </a:xfrm>
          <a:prstGeom prst="ellipse">
            <a:avLst/>
          </a:prstGeom>
          <a:solidFill>
            <a:srgbClr val="FFF6EC"/>
          </a:solidFill>
          <a:ln/>
        </p:spPr>
      </p:sp>
      <p:sp>
        <p:nvSpPr>
          <p:cNvPr id="21" name="Shape 19"/>
          <p:cNvSpPr/>
          <p:nvPr/>
        </p:nvSpPr>
        <p:spPr>
          <a:xfrm>
            <a:off x="914400" y="1371600"/>
            <a:ext cx="10332720" cy="3108960"/>
          </a:xfrm>
          <a:prstGeom prst="roundRect">
            <a:avLst>
              <a:gd name="adj" fmla="val 5882"/>
            </a:avLst>
          </a:prstGeom>
          <a:solidFill>
            <a:srgbClr val="E8867B"/>
          </a:solidFill>
          <a:ln/>
        </p:spPr>
      </p:sp>
      <p:sp>
        <p:nvSpPr>
          <p:cNvPr id="22" name="Shape 20"/>
          <p:cNvSpPr/>
          <p:nvPr/>
        </p:nvSpPr>
        <p:spPr>
          <a:xfrm>
            <a:off x="914400" y="1371600"/>
            <a:ext cx="10332720" cy="594360"/>
          </a:xfrm>
          <a:prstGeom prst="roundRect">
            <a:avLst>
              <a:gd name="adj" fmla="val 30769"/>
            </a:avLst>
          </a:prstGeom>
          <a:solidFill>
            <a:srgbClr val="E8B94A"/>
          </a:solidFill>
          <a:ln/>
        </p:spPr>
      </p:sp>
      <p:sp>
        <p:nvSpPr>
          <p:cNvPr id="23" name="Text 21"/>
          <p:cNvSpPr/>
          <p:nvPr/>
        </p:nvSpPr>
        <p:spPr>
          <a:xfrm>
            <a:off x="1188720" y="1371600"/>
            <a:ext cx="9784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4A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Qiita実装仕様・中級向け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188720" y="2148840"/>
            <a:ext cx="9784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依存ゼロで xlsx を読み書きする</a:t>
            </a:r>
            <a:endParaRPr lang="en-US" sz="3300" dirty="0"/>
          </a:p>
        </p:txBody>
      </p:sp>
      <p:sp>
        <p:nvSpPr>
          <p:cNvPr id="25" name="Text 23"/>
          <p:cNvSpPr/>
          <p:nvPr/>
        </p:nvSpPr>
        <p:spPr>
          <a:xfrm>
            <a:off x="1188720" y="3154680"/>
            <a:ext cx="9784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7E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「エラー:509」全滅事件から学んだ OOXML 自前実装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914400" y="48006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7A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JavaScript / Excel / OOXML / ZIP / DecompressionStream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10058400" y="502920"/>
            <a:ext cx="566928" cy="713232"/>
          </a:xfrm>
          <a:prstGeom prst="roundRect">
            <a:avLst>
              <a:gd name="adj" fmla="val 29032"/>
            </a:avLst>
          </a:prstGeom>
          <a:solidFill>
            <a:srgbClr val="FFFFFF"/>
          </a:solidFill>
          <a:ln w="19050">
            <a:solidFill>
              <a:srgbClr val="D9BC9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784080" y="109728"/>
            <a:ext cx="1143000" cy="685800"/>
          </a:xfrm>
          <a:prstGeom prst="ellipse">
            <a:avLst/>
          </a:prstGeom>
          <a:solidFill>
            <a:srgbClr val="D86E62"/>
          </a:solidFill>
          <a:ln w="19050">
            <a:solidFill>
              <a:srgbClr val="C9906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012680" y="256032"/>
            <a:ext cx="201168" cy="155448"/>
          </a:xfrm>
          <a:prstGeom prst="ellipse">
            <a:avLst/>
          </a:prstGeom>
          <a:solidFill>
            <a:srgbClr val="FFF6EC"/>
          </a:solidFill>
          <a:ln/>
        </p:spPr>
      </p:sp>
      <p:sp>
        <p:nvSpPr>
          <p:cNvPr id="30" name="Shape 28"/>
          <p:cNvSpPr/>
          <p:nvPr/>
        </p:nvSpPr>
        <p:spPr>
          <a:xfrm>
            <a:off x="10469880" y="182880"/>
            <a:ext cx="237744" cy="182880"/>
          </a:xfrm>
          <a:prstGeom prst="ellipse">
            <a:avLst/>
          </a:prstGeom>
          <a:solidFill>
            <a:srgbClr val="FFF6EC"/>
          </a:solidFill>
          <a:ln/>
        </p:spPr>
      </p:sp>
      <p:sp>
        <p:nvSpPr>
          <p:cNvPr id="31" name="Text 29"/>
          <p:cNvSpPr/>
          <p:nvPr/>
        </p:nvSpPr>
        <p:spPr>
          <a:xfrm>
            <a:off x="914400" y="548640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7A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「面白きこともなき世を面白く」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7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7FB069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5" name="Shape 3"/>
          <p:cNvSpPr/>
          <p:nvPr/>
        </p:nvSpPr>
        <p:spPr>
          <a:xfrm>
            <a:off x="1609344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6" name="Shape 4"/>
          <p:cNvSpPr/>
          <p:nvPr/>
        </p:nvSpPr>
        <p:spPr>
          <a:xfrm>
            <a:off x="2505456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7" name="Shape 5"/>
          <p:cNvSpPr/>
          <p:nvPr/>
        </p:nvSpPr>
        <p:spPr>
          <a:xfrm>
            <a:off x="3401568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8" name="Shape 6"/>
          <p:cNvSpPr/>
          <p:nvPr/>
        </p:nvSpPr>
        <p:spPr>
          <a:xfrm>
            <a:off x="4297680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9" name="Shape 7"/>
          <p:cNvSpPr/>
          <p:nvPr/>
        </p:nvSpPr>
        <p:spPr>
          <a:xfrm>
            <a:off x="5193792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0" name="Shape 8"/>
          <p:cNvSpPr/>
          <p:nvPr/>
        </p:nvSpPr>
        <p:spPr>
          <a:xfrm>
            <a:off x="6089904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1" name="Shape 9"/>
          <p:cNvSpPr/>
          <p:nvPr/>
        </p:nvSpPr>
        <p:spPr>
          <a:xfrm>
            <a:off x="6986016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2" name="Shape 10"/>
          <p:cNvSpPr/>
          <p:nvPr/>
        </p:nvSpPr>
        <p:spPr>
          <a:xfrm>
            <a:off x="7882128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3" name="Shape 11"/>
          <p:cNvSpPr/>
          <p:nvPr/>
        </p:nvSpPr>
        <p:spPr>
          <a:xfrm>
            <a:off x="8778240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4" name="Shape 12"/>
          <p:cNvSpPr/>
          <p:nvPr/>
        </p:nvSpPr>
        <p:spPr>
          <a:xfrm>
            <a:off x="9674352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5" name="Shape 13"/>
          <p:cNvSpPr/>
          <p:nvPr/>
        </p:nvSpPr>
        <p:spPr>
          <a:xfrm>
            <a:off x="10570464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6" name="Shape 14"/>
          <p:cNvSpPr/>
          <p:nvPr/>
        </p:nvSpPr>
        <p:spPr>
          <a:xfrm>
            <a:off x="11466576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7" name="Shape 15"/>
          <p:cNvSpPr/>
          <p:nvPr/>
        </p:nvSpPr>
        <p:spPr>
          <a:xfrm>
            <a:off x="384048" y="6199632"/>
            <a:ext cx="182880" cy="274320"/>
          </a:xfrm>
          <a:prstGeom prst="roundRect">
            <a:avLst>
              <a:gd name="adj" fmla="val 30000"/>
            </a:avLst>
          </a:prstGeom>
          <a:solidFill>
            <a:srgbClr val="FFF7E8"/>
          </a:solidFill>
          <a:ln w="12700">
            <a:solidFill>
              <a:srgbClr val="D9BC9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7744" y="5961888"/>
            <a:ext cx="475488" cy="310896"/>
          </a:xfrm>
          <a:prstGeom prst="ellipse">
            <a:avLst/>
          </a:prstGeom>
          <a:solidFill>
            <a:srgbClr val="D86E62"/>
          </a:solidFill>
          <a:ln w="12700">
            <a:solidFill>
              <a:srgbClr val="C9906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9184" y="6016752"/>
            <a:ext cx="91440" cy="73152"/>
          </a:xfrm>
          <a:prstGeom prst="ellipse">
            <a:avLst/>
          </a:prstGeom>
          <a:solidFill>
            <a:srgbClr val="FFF6EC"/>
          </a:solidFill>
          <a:ln/>
        </p:spPr>
      </p:sp>
      <p:sp>
        <p:nvSpPr>
          <p:cNvPr id="20" name="Shape 18"/>
          <p:cNvSpPr/>
          <p:nvPr/>
        </p:nvSpPr>
        <p:spPr>
          <a:xfrm>
            <a:off x="512064" y="5989320"/>
            <a:ext cx="109728" cy="82296"/>
          </a:xfrm>
          <a:prstGeom prst="ellipse">
            <a:avLst/>
          </a:prstGeom>
          <a:solidFill>
            <a:srgbClr val="FFF6EC"/>
          </a:solidFill>
          <a:ln/>
        </p:spPr>
      </p:sp>
      <p:sp>
        <p:nvSpPr>
          <p:cNvPr id="21" name="Shape 19"/>
          <p:cNvSpPr/>
          <p:nvPr/>
        </p:nvSpPr>
        <p:spPr>
          <a:xfrm>
            <a:off x="411480" y="292608"/>
            <a:ext cx="11365992" cy="841248"/>
          </a:xfrm>
          <a:prstGeom prst="roundRect">
            <a:avLst>
              <a:gd name="adj" fmla="val 13043"/>
            </a:avLst>
          </a:prstGeom>
          <a:solidFill>
            <a:srgbClr val="E8867B"/>
          </a:solidFill>
          <a:ln/>
        </p:spPr>
      </p:sp>
      <p:sp>
        <p:nvSpPr>
          <p:cNvPr id="22" name="Shape 20"/>
          <p:cNvSpPr/>
          <p:nvPr/>
        </p:nvSpPr>
        <p:spPr>
          <a:xfrm>
            <a:off x="411480" y="292608"/>
            <a:ext cx="164592" cy="841248"/>
          </a:xfrm>
          <a:prstGeom prst="roundRect">
            <a:avLst>
              <a:gd name="adj" fmla="val 33333"/>
            </a:avLst>
          </a:prstGeom>
          <a:solidFill>
            <a:srgbClr val="E8B94A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292608"/>
            <a:ext cx="822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463040" y="292608"/>
            <a:ext cx="100584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事件：SpreadsheetMLは環境依存だった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692640" y="6547104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うさうさ研修工房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31520" y="141732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4A34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初期実装：Excel 2003 XML（SpreadsheetML / .xls）</a:t>
            </a:r>
            <a:endParaRPr lang="en-US" sz="1500" dirty="0"/>
          </a:p>
          <a:p>
            <a:pPr lvl="1" marL="3556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9C7A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テキストでXMLを組むだけで作れる手軽さ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4A34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検証環境のLibreOfficeでは全数式が動作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500" b="1" dirty="0">
                <a:solidFill>
                  <a:srgbClr val="D86E6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しかし利用者環境では全数式セルが「エラー:509」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4A34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原因：ss:Formula（R1C1属性数式）のパースがバージョン依存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500" b="1" dirty="0">
                <a:solidFill>
                  <a:srgbClr val="4A34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判断：対症療法ではなく、互換性バグのクラスごと消す</a:t>
            </a:r>
            <a:endParaRPr lang="en-US" sz="1500" dirty="0"/>
          </a:p>
          <a:p>
            <a:pPr lvl="1" marL="355600" indent="-1778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4A34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＝ 標準OOXML（.xlsx）へ全面移行。数式はA1形式の&lt;f&gt;要素に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7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7FB069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5" name="Shape 3"/>
          <p:cNvSpPr/>
          <p:nvPr/>
        </p:nvSpPr>
        <p:spPr>
          <a:xfrm>
            <a:off x="1609344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6" name="Shape 4"/>
          <p:cNvSpPr/>
          <p:nvPr/>
        </p:nvSpPr>
        <p:spPr>
          <a:xfrm>
            <a:off x="2505456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7" name="Shape 5"/>
          <p:cNvSpPr/>
          <p:nvPr/>
        </p:nvSpPr>
        <p:spPr>
          <a:xfrm>
            <a:off x="3401568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8" name="Shape 6"/>
          <p:cNvSpPr/>
          <p:nvPr/>
        </p:nvSpPr>
        <p:spPr>
          <a:xfrm>
            <a:off x="4297680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9" name="Shape 7"/>
          <p:cNvSpPr/>
          <p:nvPr/>
        </p:nvSpPr>
        <p:spPr>
          <a:xfrm>
            <a:off x="5193792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0" name="Shape 8"/>
          <p:cNvSpPr/>
          <p:nvPr/>
        </p:nvSpPr>
        <p:spPr>
          <a:xfrm>
            <a:off x="6089904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1" name="Shape 9"/>
          <p:cNvSpPr/>
          <p:nvPr/>
        </p:nvSpPr>
        <p:spPr>
          <a:xfrm>
            <a:off x="6986016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2" name="Shape 10"/>
          <p:cNvSpPr/>
          <p:nvPr/>
        </p:nvSpPr>
        <p:spPr>
          <a:xfrm>
            <a:off x="7882128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3" name="Shape 11"/>
          <p:cNvSpPr/>
          <p:nvPr/>
        </p:nvSpPr>
        <p:spPr>
          <a:xfrm>
            <a:off x="8778240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4" name="Shape 12"/>
          <p:cNvSpPr/>
          <p:nvPr/>
        </p:nvSpPr>
        <p:spPr>
          <a:xfrm>
            <a:off x="9674352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5" name="Shape 13"/>
          <p:cNvSpPr/>
          <p:nvPr/>
        </p:nvSpPr>
        <p:spPr>
          <a:xfrm>
            <a:off x="10570464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6" name="Shape 14"/>
          <p:cNvSpPr/>
          <p:nvPr/>
        </p:nvSpPr>
        <p:spPr>
          <a:xfrm>
            <a:off x="11466576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7" name="Shape 15"/>
          <p:cNvSpPr/>
          <p:nvPr/>
        </p:nvSpPr>
        <p:spPr>
          <a:xfrm>
            <a:off x="384048" y="6199632"/>
            <a:ext cx="182880" cy="274320"/>
          </a:xfrm>
          <a:prstGeom prst="roundRect">
            <a:avLst>
              <a:gd name="adj" fmla="val 30000"/>
            </a:avLst>
          </a:prstGeom>
          <a:solidFill>
            <a:srgbClr val="FFF7E8"/>
          </a:solidFill>
          <a:ln w="12700">
            <a:solidFill>
              <a:srgbClr val="D9BC9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7744" y="5961888"/>
            <a:ext cx="475488" cy="310896"/>
          </a:xfrm>
          <a:prstGeom prst="ellipse">
            <a:avLst/>
          </a:prstGeom>
          <a:solidFill>
            <a:srgbClr val="D86E62"/>
          </a:solidFill>
          <a:ln w="12700">
            <a:solidFill>
              <a:srgbClr val="C9906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9184" y="6016752"/>
            <a:ext cx="91440" cy="73152"/>
          </a:xfrm>
          <a:prstGeom prst="ellipse">
            <a:avLst/>
          </a:prstGeom>
          <a:solidFill>
            <a:srgbClr val="FFF6EC"/>
          </a:solidFill>
          <a:ln/>
        </p:spPr>
      </p:sp>
      <p:sp>
        <p:nvSpPr>
          <p:cNvPr id="20" name="Shape 18"/>
          <p:cNvSpPr/>
          <p:nvPr/>
        </p:nvSpPr>
        <p:spPr>
          <a:xfrm>
            <a:off x="512064" y="5989320"/>
            <a:ext cx="109728" cy="82296"/>
          </a:xfrm>
          <a:prstGeom prst="ellipse">
            <a:avLst/>
          </a:prstGeom>
          <a:solidFill>
            <a:srgbClr val="FFF6EC"/>
          </a:solidFill>
          <a:ln/>
        </p:spPr>
      </p:sp>
      <p:sp>
        <p:nvSpPr>
          <p:cNvPr id="21" name="Shape 19"/>
          <p:cNvSpPr/>
          <p:nvPr/>
        </p:nvSpPr>
        <p:spPr>
          <a:xfrm>
            <a:off x="411480" y="292608"/>
            <a:ext cx="11365992" cy="841248"/>
          </a:xfrm>
          <a:prstGeom prst="roundRect">
            <a:avLst>
              <a:gd name="adj" fmla="val 13043"/>
            </a:avLst>
          </a:prstGeom>
          <a:solidFill>
            <a:srgbClr val="E8867B"/>
          </a:solidFill>
          <a:ln/>
        </p:spPr>
      </p:sp>
      <p:sp>
        <p:nvSpPr>
          <p:cNvPr id="22" name="Shape 20"/>
          <p:cNvSpPr/>
          <p:nvPr/>
        </p:nvSpPr>
        <p:spPr>
          <a:xfrm>
            <a:off x="411480" y="292608"/>
            <a:ext cx="164592" cy="841248"/>
          </a:xfrm>
          <a:prstGeom prst="roundRect">
            <a:avLst>
              <a:gd name="adj" fmla="val 33333"/>
            </a:avLst>
          </a:prstGeom>
          <a:solidFill>
            <a:srgbClr val="E8B94A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292608"/>
            <a:ext cx="822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463040" y="292608"/>
            <a:ext cx="100584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設計の割り切り：ZIPは「無圧縮」でいい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692640" y="6547104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うさうさ研修工房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31520" y="141732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4A34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.xlsxの正体はZIP。重いのは圧縮(deflate)の実装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500" b="1" dirty="0">
                <a:solidFill>
                  <a:srgbClr val="4A34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method 0（stored＝無圧縮）でもZIPとして合法</a:t>
            </a:r>
            <a:endParaRPr lang="en-US" sz="1500" dirty="0"/>
          </a:p>
          <a:p>
            <a:pPr lvl="1" marL="355600" indent="-177800">
              <a:spcAft>
                <a:spcPts val="600"/>
              </a:spcAft>
              <a:buSzPct val="100000"/>
              <a:buChar char="●"/>
            </a:pPr>
            <a:r>
              <a:rPr lang="en-US" sz="1500" dirty="0">
                <a:solidFill>
                  <a:srgbClr val="4A34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70問のブックで数百KB程度：実用上問題なし</a:t>
            </a:r>
            <a:endParaRPr lang="en-US" sz="1500" dirty="0"/>
          </a:p>
          <a:p>
            <a:pPr lvl="1" marL="355600" indent="-177800">
              <a:spcAft>
                <a:spcPts val="600"/>
              </a:spcAft>
              <a:buSzPct val="100000"/>
              <a:buChar char="●"/>
            </a:pPr>
            <a:r>
              <a:rPr lang="en-US" sz="1500" dirty="0">
                <a:solidFill>
                  <a:srgbClr val="4A34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同期処理だけで完結（CompressionStream不要）</a:t>
            </a:r>
            <a:endParaRPr lang="en-US" sz="1500" dirty="0"/>
          </a:p>
          <a:p>
            <a:pPr lvl="1" marL="355600" indent="-1778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4A34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ZIP内XMLが平文：テストでgrep検証できる副産物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4A34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必要なのはCRC32とZIP構造（ローカルヘッダ/セントラルディレクトリ/EOCD）だけ</a:t>
            </a:r>
            <a:endParaRPr lang="en-US" sz="1500" dirty="0"/>
          </a:p>
          <a:p>
            <a:pPr lvl="1" marL="355600" indent="-1778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9C7A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実装はあわせて150行弱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7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7FB069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5" name="Shape 3"/>
          <p:cNvSpPr/>
          <p:nvPr/>
        </p:nvSpPr>
        <p:spPr>
          <a:xfrm>
            <a:off x="1609344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6" name="Shape 4"/>
          <p:cNvSpPr/>
          <p:nvPr/>
        </p:nvSpPr>
        <p:spPr>
          <a:xfrm>
            <a:off x="2505456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7" name="Shape 5"/>
          <p:cNvSpPr/>
          <p:nvPr/>
        </p:nvSpPr>
        <p:spPr>
          <a:xfrm>
            <a:off x="3401568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8" name="Shape 6"/>
          <p:cNvSpPr/>
          <p:nvPr/>
        </p:nvSpPr>
        <p:spPr>
          <a:xfrm>
            <a:off x="4297680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9" name="Shape 7"/>
          <p:cNvSpPr/>
          <p:nvPr/>
        </p:nvSpPr>
        <p:spPr>
          <a:xfrm>
            <a:off x="5193792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0" name="Shape 8"/>
          <p:cNvSpPr/>
          <p:nvPr/>
        </p:nvSpPr>
        <p:spPr>
          <a:xfrm>
            <a:off x="6089904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1" name="Shape 9"/>
          <p:cNvSpPr/>
          <p:nvPr/>
        </p:nvSpPr>
        <p:spPr>
          <a:xfrm>
            <a:off x="6986016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2" name="Shape 10"/>
          <p:cNvSpPr/>
          <p:nvPr/>
        </p:nvSpPr>
        <p:spPr>
          <a:xfrm>
            <a:off x="7882128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3" name="Shape 11"/>
          <p:cNvSpPr/>
          <p:nvPr/>
        </p:nvSpPr>
        <p:spPr>
          <a:xfrm>
            <a:off x="8778240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4" name="Shape 12"/>
          <p:cNvSpPr/>
          <p:nvPr/>
        </p:nvSpPr>
        <p:spPr>
          <a:xfrm>
            <a:off x="9674352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5" name="Shape 13"/>
          <p:cNvSpPr/>
          <p:nvPr/>
        </p:nvSpPr>
        <p:spPr>
          <a:xfrm>
            <a:off x="10570464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6" name="Shape 14"/>
          <p:cNvSpPr/>
          <p:nvPr/>
        </p:nvSpPr>
        <p:spPr>
          <a:xfrm>
            <a:off x="11466576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7" name="Shape 15"/>
          <p:cNvSpPr/>
          <p:nvPr/>
        </p:nvSpPr>
        <p:spPr>
          <a:xfrm>
            <a:off x="384048" y="6199632"/>
            <a:ext cx="182880" cy="274320"/>
          </a:xfrm>
          <a:prstGeom prst="roundRect">
            <a:avLst>
              <a:gd name="adj" fmla="val 30000"/>
            </a:avLst>
          </a:prstGeom>
          <a:solidFill>
            <a:srgbClr val="FFF7E8"/>
          </a:solidFill>
          <a:ln w="12700">
            <a:solidFill>
              <a:srgbClr val="D9BC9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7744" y="5961888"/>
            <a:ext cx="475488" cy="310896"/>
          </a:xfrm>
          <a:prstGeom prst="ellipse">
            <a:avLst/>
          </a:prstGeom>
          <a:solidFill>
            <a:srgbClr val="D86E62"/>
          </a:solidFill>
          <a:ln w="12700">
            <a:solidFill>
              <a:srgbClr val="C9906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9184" y="6016752"/>
            <a:ext cx="91440" cy="73152"/>
          </a:xfrm>
          <a:prstGeom prst="ellipse">
            <a:avLst/>
          </a:prstGeom>
          <a:solidFill>
            <a:srgbClr val="FFF6EC"/>
          </a:solidFill>
          <a:ln/>
        </p:spPr>
      </p:sp>
      <p:sp>
        <p:nvSpPr>
          <p:cNvPr id="20" name="Shape 18"/>
          <p:cNvSpPr/>
          <p:nvPr/>
        </p:nvSpPr>
        <p:spPr>
          <a:xfrm>
            <a:off x="512064" y="5989320"/>
            <a:ext cx="109728" cy="82296"/>
          </a:xfrm>
          <a:prstGeom prst="ellipse">
            <a:avLst/>
          </a:prstGeom>
          <a:solidFill>
            <a:srgbClr val="FFF6EC"/>
          </a:solidFill>
          <a:ln/>
        </p:spPr>
      </p:sp>
      <p:sp>
        <p:nvSpPr>
          <p:cNvPr id="21" name="Shape 19"/>
          <p:cNvSpPr/>
          <p:nvPr/>
        </p:nvSpPr>
        <p:spPr>
          <a:xfrm>
            <a:off x="411480" y="292608"/>
            <a:ext cx="11365992" cy="841248"/>
          </a:xfrm>
          <a:prstGeom prst="roundRect">
            <a:avLst>
              <a:gd name="adj" fmla="val 13043"/>
            </a:avLst>
          </a:prstGeom>
          <a:solidFill>
            <a:srgbClr val="E8867B"/>
          </a:solidFill>
          <a:ln/>
        </p:spPr>
      </p:sp>
      <p:sp>
        <p:nvSpPr>
          <p:cNvPr id="22" name="Shape 20"/>
          <p:cNvSpPr/>
          <p:nvPr/>
        </p:nvSpPr>
        <p:spPr>
          <a:xfrm>
            <a:off x="411480" y="292608"/>
            <a:ext cx="164592" cy="841248"/>
          </a:xfrm>
          <a:prstGeom prst="roundRect">
            <a:avLst>
              <a:gd name="adj" fmla="val 33333"/>
            </a:avLst>
          </a:prstGeom>
          <a:solidFill>
            <a:srgbClr val="E8B94A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292608"/>
            <a:ext cx="822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463040" y="292608"/>
            <a:ext cx="100584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CRC32とZIP書き込みの最小実装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692640" y="6547104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うさうさ研修工房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31520" y="1417320"/>
            <a:ext cx="53949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4A34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CRC32：256要素テーブル方式の定番実装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4A34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DataViewでリトルエンディアンを書き込む</a:t>
            </a:r>
            <a:endParaRPr lang="en-US" sz="1500" dirty="0"/>
          </a:p>
          <a:p>
            <a:pPr lvl="1" marL="355600" indent="-1778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4A34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ローカルヘッダ署名 0x04034b50</a:t>
            </a:r>
            <a:endParaRPr lang="en-US" sz="1500" dirty="0"/>
          </a:p>
          <a:p>
            <a:pPr lvl="1" marL="355600" indent="-1778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4A34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セントラルディレクトリ 0x02014b50</a:t>
            </a:r>
            <a:endParaRPr lang="en-US" sz="1500" dirty="0"/>
          </a:p>
          <a:p>
            <a:pPr lvl="1" marL="355600" indent="-1778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4A34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EOCD 0x06054b50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400800" y="1417320"/>
            <a:ext cx="5349240" cy="4663440"/>
          </a:xfrm>
          <a:prstGeom prst="roundRect">
            <a:avLst>
              <a:gd name="adj" fmla="val 1961"/>
            </a:avLst>
          </a:prstGeom>
          <a:solidFill>
            <a:srgbClr val="3E2E1E"/>
          </a:solidFill>
          <a:ln w="19050">
            <a:solidFill>
              <a:srgbClr val="F6DFA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37960" y="1527048"/>
            <a:ext cx="5074920" cy="4443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F6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T = (()=&gt;{</a:t>
            </a:r>
            <a:endParaRPr lang="en-US" sz="1100" dirty="0"/>
          </a:p>
          <a:p>
            <a:pPr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F6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const t = new Uint32Array(256);</a:t>
            </a:r>
            <a:endParaRPr lang="en-US" sz="1100" dirty="0"/>
          </a:p>
          <a:p>
            <a:pPr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F6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for(let n=0;n&lt;256;n++){ let c=n;</a:t>
            </a:r>
            <a:endParaRPr lang="en-US" sz="1100" dirty="0"/>
          </a:p>
          <a:p>
            <a:pPr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F6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for(let k=0;k&lt;8;k++)</a:t>
            </a:r>
            <a:endParaRPr lang="en-US" sz="1100" dirty="0"/>
          </a:p>
          <a:p>
            <a:pPr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F6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c=(c&amp;1)?(0xEDB88320^(c&gt;&gt;&gt;1)):(c&gt;&gt;&gt;1);</a:t>
            </a:r>
            <a:endParaRPr lang="en-US" sz="1100" dirty="0"/>
          </a:p>
          <a:p>
            <a:pPr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F6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t[n]=c&gt;&gt;&gt;0; } return t; })();</a:t>
            </a:r>
            <a:endParaRPr lang="en-US" sz="1100" dirty="0"/>
          </a:p>
          <a:p>
            <a:pPr indent="0" marL="0">
              <a:lnSpc>
                <a:spcPts val="1485"/>
              </a:lnSpc>
              <a:buNone/>
            </a:pPr>
            <a:endParaRPr lang="en-US" sz="1100" dirty="0"/>
          </a:p>
          <a:p>
            <a:pPr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F6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crc32(u8){</a:t>
            </a:r>
            <a:endParaRPr lang="en-US" sz="1100" dirty="0"/>
          </a:p>
          <a:p>
            <a:pPr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F6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let c=0xFFFFFFFF;</a:t>
            </a:r>
            <a:endParaRPr lang="en-US" sz="1100" dirty="0"/>
          </a:p>
          <a:p>
            <a:pPr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F6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for(let i=0;i&lt;u8.length;i++)</a:t>
            </a:r>
            <a:endParaRPr lang="en-US" sz="1100" dirty="0"/>
          </a:p>
          <a:p>
            <a:pPr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F6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c=T[(c^u8[i])&amp;0xFF]^(c&gt;&gt;&gt;8);</a:t>
            </a:r>
            <a:endParaRPr lang="en-US" sz="1100" dirty="0"/>
          </a:p>
          <a:p>
            <a:pPr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F6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return (c^0xFFFFFFFF)&gt;&gt;&gt;0;</a:t>
            </a:r>
            <a:endParaRPr lang="en-US" sz="1100" dirty="0"/>
          </a:p>
          <a:p>
            <a:pPr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F6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7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7FB069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5" name="Shape 3"/>
          <p:cNvSpPr/>
          <p:nvPr/>
        </p:nvSpPr>
        <p:spPr>
          <a:xfrm>
            <a:off x="1609344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6" name="Shape 4"/>
          <p:cNvSpPr/>
          <p:nvPr/>
        </p:nvSpPr>
        <p:spPr>
          <a:xfrm>
            <a:off x="2505456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7" name="Shape 5"/>
          <p:cNvSpPr/>
          <p:nvPr/>
        </p:nvSpPr>
        <p:spPr>
          <a:xfrm>
            <a:off x="3401568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8" name="Shape 6"/>
          <p:cNvSpPr/>
          <p:nvPr/>
        </p:nvSpPr>
        <p:spPr>
          <a:xfrm>
            <a:off x="4297680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9" name="Shape 7"/>
          <p:cNvSpPr/>
          <p:nvPr/>
        </p:nvSpPr>
        <p:spPr>
          <a:xfrm>
            <a:off x="5193792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0" name="Shape 8"/>
          <p:cNvSpPr/>
          <p:nvPr/>
        </p:nvSpPr>
        <p:spPr>
          <a:xfrm>
            <a:off x="6089904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1" name="Shape 9"/>
          <p:cNvSpPr/>
          <p:nvPr/>
        </p:nvSpPr>
        <p:spPr>
          <a:xfrm>
            <a:off x="6986016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2" name="Shape 10"/>
          <p:cNvSpPr/>
          <p:nvPr/>
        </p:nvSpPr>
        <p:spPr>
          <a:xfrm>
            <a:off x="7882128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3" name="Shape 11"/>
          <p:cNvSpPr/>
          <p:nvPr/>
        </p:nvSpPr>
        <p:spPr>
          <a:xfrm>
            <a:off x="8778240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4" name="Shape 12"/>
          <p:cNvSpPr/>
          <p:nvPr/>
        </p:nvSpPr>
        <p:spPr>
          <a:xfrm>
            <a:off x="9674352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5" name="Shape 13"/>
          <p:cNvSpPr/>
          <p:nvPr/>
        </p:nvSpPr>
        <p:spPr>
          <a:xfrm>
            <a:off x="10570464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6" name="Shape 14"/>
          <p:cNvSpPr/>
          <p:nvPr/>
        </p:nvSpPr>
        <p:spPr>
          <a:xfrm>
            <a:off x="11466576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7" name="Shape 15"/>
          <p:cNvSpPr/>
          <p:nvPr/>
        </p:nvSpPr>
        <p:spPr>
          <a:xfrm>
            <a:off x="384048" y="6199632"/>
            <a:ext cx="182880" cy="274320"/>
          </a:xfrm>
          <a:prstGeom prst="roundRect">
            <a:avLst>
              <a:gd name="adj" fmla="val 30000"/>
            </a:avLst>
          </a:prstGeom>
          <a:solidFill>
            <a:srgbClr val="FFF7E8"/>
          </a:solidFill>
          <a:ln w="12700">
            <a:solidFill>
              <a:srgbClr val="D9BC9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7744" y="5961888"/>
            <a:ext cx="475488" cy="310896"/>
          </a:xfrm>
          <a:prstGeom prst="ellipse">
            <a:avLst/>
          </a:prstGeom>
          <a:solidFill>
            <a:srgbClr val="D86E62"/>
          </a:solidFill>
          <a:ln w="12700">
            <a:solidFill>
              <a:srgbClr val="C9906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9184" y="6016752"/>
            <a:ext cx="91440" cy="73152"/>
          </a:xfrm>
          <a:prstGeom prst="ellipse">
            <a:avLst/>
          </a:prstGeom>
          <a:solidFill>
            <a:srgbClr val="FFF6EC"/>
          </a:solidFill>
          <a:ln/>
        </p:spPr>
      </p:sp>
      <p:sp>
        <p:nvSpPr>
          <p:cNvPr id="20" name="Shape 18"/>
          <p:cNvSpPr/>
          <p:nvPr/>
        </p:nvSpPr>
        <p:spPr>
          <a:xfrm>
            <a:off x="512064" y="5989320"/>
            <a:ext cx="109728" cy="82296"/>
          </a:xfrm>
          <a:prstGeom prst="ellipse">
            <a:avLst/>
          </a:prstGeom>
          <a:solidFill>
            <a:srgbClr val="FFF6EC"/>
          </a:solidFill>
          <a:ln/>
        </p:spPr>
      </p:sp>
      <p:sp>
        <p:nvSpPr>
          <p:cNvPr id="21" name="Shape 19"/>
          <p:cNvSpPr/>
          <p:nvPr/>
        </p:nvSpPr>
        <p:spPr>
          <a:xfrm>
            <a:off x="411480" y="292608"/>
            <a:ext cx="11365992" cy="841248"/>
          </a:xfrm>
          <a:prstGeom prst="roundRect">
            <a:avLst>
              <a:gd name="adj" fmla="val 13043"/>
            </a:avLst>
          </a:prstGeom>
          <a:solidFill>
            <a:srgbClr val="E8867B"/>
          </a:solidFill>
          <a:ln/>
        </p:spPr>
      </p:sp>
      <p:sp>
        <p:nvSpPr>
          <p:cNvPr id="22" name="Shape 20"/>
          <p:cNvSpPr/>
          <p:nvPr/>
        </p:nvSpPr>
        <p:spPr>
          <a:xfrm>
            <a:off x="411480" y="292608"/>
            <a:ext cx="164592" cy="841248"/>
          </a:xfrm>
          <a:prstGeom prst="roundRect">
            <a:avLst>
              <a:gd name="adj" fmla="val 33333"/>
            </a:avLst>
          </a:prstGeom>
          <a:solidFill>
            <a:srgbClr val="E8B94A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292608"/>
            <a:ext cx="822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463040" y="292608"/>
            <a:ext cx="100584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OOXML最小構成は6パーツ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692640" y="6547104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うさうさ研修工房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31520" y="141732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●"/>
            </a:pPr>
            <a:r>
              <a:rPr lang="en-US" sz="1500" dirty="0">
                <a:solidFill>
                  <a:srgbClr val="4A34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[Content_Types].xml - ZIPの先頭に置く（Sheetsはここに敏感）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●"/>
            </a:pPr>
            <a:r>
              <a:rPr lang="en-US" sz="1500" dirty="0">
                <a:solidFill>
                  <a:srgbClr val="4A34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_rels/.rels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●"/>
            </a:pPr>
            <a:r>
              <a:rPr lang="en-US" sz="1500" b="1" dirty="0">
                <a:solidFill>
                  <a:srgbClr val="4A34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xl/workbook.xml - &lt;calcPr fullCalcOnLoad="1"/&gt; が肝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●"/>
            </a:pPr>
            <a:r>
              <a:rPr lang="en-US" sz="1500" dirty="0">
                <a:solidFill>
                  <a:srgbClr val="4A34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xl/_rels/workbook.xml.rels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●"/>
            </a:pPr>
            <a:r>
              <a:rPr lang="en-US" sz="1500" dirty="0">
                <a:solidFill>
                  <a:srgbClr val="4A34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xl/styles.xml - cellStyles(Normal)まで書くと警告が消える</a:t>
            </a:r>
            <a:endParaRPr lang="en-US" sz="1500" dirty="0"/>
          </a:p>
          <a:p>
            <a:pPr marL="177800" indent="-177800"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4A34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xl/worksheets/sheetN.xml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4A34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セルはインライン文字列(t="inlineStr")にすると sharedStrings の管理が不要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7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7FB069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5" name="Shape 3"/>
          <p:cNvSpPr/>
          <p:nvPr/>
        </p:nvSpPr>
        <p:spPr>
          <a:xfrm>
            <a:off x="1609344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6" name="Shape 4"/>
          <p:cNvSpPr/>
          <p:nvPr/>
        </p:nvSpPr>
        <p:spPr>
          <a:xfrm>
            <a:off x="2505456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7" name="Shape 5"/>
          <p:cNvSpPr/>
          <p:nvPr/>
        </p:nvSpPr>
        <p:spPr>
          <a:xfrm>
            <a:off x="3401568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8" name="Shape 6"/>
          <p:cNvSpPr/>
          <p:nvPr/>
        </p:nvSpPr>
        <p:spPr>
          <a:xfrm>
            <a:off x="4297680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9" name="Shape 7"/>
          <p:cNvSpPr/>
          <p:nvPr/>
        </p:nvSpPr>
        <p:spPr>
          <a:xfrm>
            <a:off x="5193792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0" name="Shape 8"/>
          <p:cNvSpPr/>
          <p:nvPr/>
        </p:nvSpPr>
        <p:spPr>
          <a:xfrm>
            <a:off x="6089904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1" name="Shape 9"/>
          <p:cNvSpPr/>
          <p:nvPr/>
        </p:nvSpPr>
        <p:spPr>
          <a:xfrm>
            <a:off x="6986016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2" name="Shape 10"/>
          <p:cNvSpPr/>
          <p:nvPr/>
        </p:nvSpPr>
        <p:spPr>
          <a:xfrm>
            <a:off x="7882128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3" name="Shape 11"/>
          <p:cNvSpPr/>
          <p:nvPr/>
        </p:nvSpPr>
        <p:spPr>
          <a:xfrm>
            <a:off x="8778240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4" name="Shape 12"/>
          <p:cNvSpPr/>
          <p:nvPr/>
        </p:nvSpPr>
        <p:spPr>
          <a:xfrm>
            <a:off x="9674352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5" name="Shape 13"/>
          <p:cNvSpPr/>
          <p:nvPr/>
        </p:nvSpPr>
        <p:spPr>
          <a:xfrm>
            <a:off x="10570464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6" name="Shape 14"/>
          <p:cNvSpPr/>
          <p:nvPr/>
        </p:nvSpPr>
        <p:spPr>
          <a:xfrm>
            <a:off x="11466576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7" name="Shape 15"/>
          <p:cNvSpPr/>
          <p:nvPr/>
        </p:nvSpPr>
        <p:spPr>
          <a:xfrm>
            <a:off x="384048" y="6199632"/>
            <a:ext cx="182880" cy="274320"/>
          </a:xfrm>
          <a:prstGeom prst="roundRect">
            <a:avLst>
              <a:gd name="adj" fmla="val 30000"/>
            </a:avLst>
          </a:prstGeom>
          <a:solidFill>
            <a:srgbClr val="FFF7E8"/>
          </a:solidFill>
          <a:ln w="12700">
            <a:solidFill>
              <a:srgbClr val="D9BC9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7744" y="5961888"/>
            <a:ext cx="475488" cy="310896"/>
          </a:xfrm>
          <a:prstGeom prst="ellipse">
            <a:avLst/>
          </a:prstGeom>
          <a:solidFill>
            <a:srgbClr val="D86E62"/>
          </a:solidFill>
          <a:ln w="12700">
            <a:solidFill>
              <a:srgbClr val="C9906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9184" y="6016752"/>
            <a:ext cx="91440" cy="73152"/>
          </a:xfrm>
          <a:prstGeom prst="ellipse">
            <a:avLst/>
          </a:prstGeom>
          <a:solidFill>
            <a:srgbClr val="FFF6EC"/>
          </a:solidFill>
          <a:ln/>
        </p:spPr>
      </p:sp>
      <p:sp>
        <p:nvSpPr>
          <p:cNvPr id="20" name="Shape 18"/>
          <p:cNvSpPr/>
          <p:nvPr/>
        </p:nvSpPr>
        <p:spPr>
          <a:xfrm>
            <a:off x="512064" y="5989320"/>
            <a:ext cx="109728" cy="82296"/>
          </a:xfrm>
          <a:prstGeom prst="ellipse">
            <a:avLst/>
          </a:prstGeom>
          <a:solidFill>
            <a:srgbClr val="FFF6EC"/>
          </a:solidFill>
          <a:ln/>
        </p:spPr>
      </p:sp>
      <p:sp>
        <p:nvSpPr>
          <p:cNvPr id="21" name="Shape 19"/>
          <p:cNvSpPr/>
          <p:nvPr/>
        </p:nvSpPr>
        <p:spPr>
          <a:xfrm>
            <a:off x="411480" y="292608"/>
            <a:ext cx="11365992" cy="841248"/>
          </a:xfrm>
          <a:prstGeom prst="roundRect">
            <a:avLst>
              <a:gd name="adj" fmla="val 13043"/>
            </a:avLst>
          </a:prstGeom>
          <a:solidFill>
            <a:srgbClr val="E8867B"/>
          </a:solidFill>
          <a:ln/>
        </p:spPr>
      </p:sp>
      <p:sp>
        <p:nvSpPr>
          <p:cNvPr id="22" name="Shape 20"/>
          <p:cNvSpPr/>
          <p:nvPr/>
        </p:nvSpPr>
        <p:spPr>
          <a:xfrm>
            <a:off x="411480" y="292608"/>
            <a:ext cx="164592" cy="841248"/>
          </a:xfrm>
          <a:prstGeom prst="roundRect">
            <a:avLst>
              <a:gd name="adj" fmla="val 33333"/>
            </a:avLst>
          </a:prstGeom>
          <a:solidFill>
            <a:srgbClr val="E8B94A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292608"/>
            <a:ext cx="822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463040" y="292608"/>
            <a:ext cx="100584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ハマりどころ3点（数式まわり）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692640" y="6547104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うさうさ研修工房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31520" y="1417320"/>
            <a:ext cx="576072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4A34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 数式にキャッシュ値&lt;v&gt;を書かない</a:t>
            </a:r>
            <a:endParaRPr lang="en-US" sz="1500" dirty="0"/>
          </a:p>
          <a:p>
            <a:pPr lvl="1" marL="355600" indent="-1778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4A34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代わりに fullCalcOnLoad="1" → 開いた瞬間に再計算され三者で同じ結果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4A34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2. 空セル参照の「0」化（Excel仕様）</a:t>
            </a:r>
            <a:endParaRPr lang="en-US" sz="1500" dirty="0"/>
          </a:p>
          <a:p>
            <a:pPr lvl="1" marL="355600" indent="-1778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4A34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文字列列は IFERROR(INDEX(...)&amp;"","") と &amp;"" で空欄化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4A34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3. xml:space="preserve"</a:t>
            </a:r>
            <a:endParaRPr lang="en-US" sz="1500" dirty="0"/>
          </a:p>
          <a:p>
            <a:pPr lvl="1" marL="355600" indent="-1778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4A34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改行・先頭末尾スペースを保持（研修データには改行入り回答が普通にある）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720840" y="1417320"/>
            <a:ext cx="5029200" cy="4663440"/>
          </a:xfrm>
          <a:prstGeom prst="roundRect">
            <a:avLst>
              <a:gd name="adj" fmla="val 1961"/>
            </a:avLst>
          </a:prstGeom>
          <a:solidFill>
            <a:srgbClr val="3E2E1E"/>
          </a:solidFill>
          <a:ln w="19050">
            <a:solidFill>
              <a:srgbClr val="F6DFA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0" y="1527048"/>
            <a:ext cx="4754880" cy="4443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F6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 r="K2"&gt;&lt;f&gt;IF('検索'!$B$3="","",</a:t>
            </a:r>
            <a:endParaRPr lang="en-US" sz="1100" dirty="0"/>
          </a:p>
          <a:p>
            <a:pPr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F6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IF(ISNUMBER(SEARCH(</a:t>
            </a:r>
            <a:endParaRPr lang="en-US" sz="1100" dirty="0"/>
          </a:p>
          <a:p>
            <a:pPr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F6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'検索'!$B$3,J2)),</a:t>
            </a:r>
            <a:endParaRPr lang="en-US" sz="1100" dirty="0"/>
          </a:p>
          <a:p>
            <a:pPr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F6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MAX(K$1:K1)+1,""))&lt;/f&gt;&lt;/c&gt;</a:t>
            </a:r>
            <a:endParaRPr lang="en-US" sz="1100" dirty="0"/>
          </a:p>
          <a:p>
            <a:pPr indent="0" marL="0">
              <a:lnSpc>
                <a:spcPts val="1485"/>
              </a:lnSpc>
              <a:buNone/>
            </a:pPr>
            <a:endParaRPr lang="en-US" sz="1100" dirty="0"/>
          </a:p>
          <a:p>
            <a:pPr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F6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 r="D4" s="2" t="inlineStr"&gt;</a:t>
            </a:r>
            <a:endParaRPr lang="en-US" sz="1100" dirty="0"/>
          </a:p>
          <a:p>
            <a:pPr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F6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&lt;is&gt;&lt;t xml:space="preserve"&gt;</a:t>
            </a:r>
            <a:endParaRPr lang="en-US" sz="1100" dirty="0"/>
          </a:p>
          <a:p>
            <a:pPr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F6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質問文…&lt;/t&gt;&lt;/is&gt;&lt;/c&gt;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7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7FB069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5" name="Shape 3"/>
          <p:cNvSpPr/>
          <p:nvPr/>
        </p:nvSpPr>
        <p:spPr>
          <a:xfrm>
            <a:off x="1609344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6" name="Shape 4"/>
          <p:cNvSpPr/>
          <p:nvPr/>
        </p:nvSpPr>
        <p:spPr>
          <a:xfrm>
            <a:off x="2505456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7" name="Shape 5"/>
          <p:cNvSpPr/>
          <p:nvPr/>
        </p:nvSpPr>
        <p:spPr>
          <a:xfrm>
            <a:off x="3401568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8" name="Shape 6"/>
          <p:cNvSpPr/>
          <p:nvPr/>
        </p:nvSpPr>
        <p:spPr>
          <a:xfrm>
            <a:off x="4297680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9" name="Shape 7"/>
          <p:cNvSpPr/>
          <p:nvPr/>
        </p:nvSpPr>
        <p:spPr>
          <a:xfrm>
            <a:off x="5193792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0" name="Shape 8"/>
          <p:cNvSpPr/>
          <p:nvPr/>
        </p:nvSpPr>
        <p:spPr>
          <a:xfrm>
            <a:off x="6089904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1" name="Shape 9"/>
          <p:cNvSpPr/>
          <p:nvPr/>
        </p:nvSpPr>
        <p:spPr>
          <a:xfrm>
            <a:off x="6986016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2" name="Shape 10"/>
          <p:cNvSpPr/>
          <p:nvPr/>
        </p:nvSpPr>
        <p:spPr>
          <a:xfrm>
            <a:off x="7882128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3" name="Shape 11"/>
          <p:cNvSpPr/>
          <p:nvPr/>
        </p:nvSpPr>
        <p:spPr>
          <a:xfrm>
            <a:off x="8778240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4" name="Shape 12"/>
          <p:cNvSpPr/>
          <p:nvPr/>
        </p:nvSpPr>
        <p:spPr>
          <a:xfrm>
            <a:off x="9674352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5" name="Shape 13"/>
          <p:cNvSpPr/>
          <p:nvPr/>
        </p:nvSpPr>
        <p:spPr>
          <a:xfrm>
            <a:off x="10570464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6" name="Shape 14"/>
          <p:cNvSpPr/>
          <p:nvPr/>
        </p:nvSpPr>
        <p:spPr>
          <a:xfrm>
            <a:off x="11466576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7" name="Shape 15"/>
          <p:cNvSpPr/>
          <p:nvPr/>
        </p:nvSpPr>
        <p:spPr>
          <a:xfrm>
            <a:off x="384048" y="6199632"/>
            <a:ext cx="182880" cy="274320"/>
          </a:xfrm>
          <a:prstGeom prst="roundRect">
            <a:avLst>
              <a:gd name="adj" fmla="val 30000"/>
            </a:avLst>
          </a:prstGeom>
          <a:solidFill>
            <a:srgbClr val="FFF7E8"/>
          </a:solidFill>
          <a:ln w="12700">
            <a:solidFill>
              <a:srgbClr val="D9BC9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7744" y="5961888"/>
            <a:ext cx="475488" cy="310896"/>
          </a:xfrm>
          <a:prstGeom prst="ellipse">
            <a:avLst/>
          </a:prstGeom>
          <a:solidFill>
            <a:srgbClr val="D86E62"/>
          </a:solidFill>
          <a:ln w="12700">
            <a:solidFill>
              <a:srgbClr val="C9906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9184" y="6016752"/>
            <a:ext cx="91440" cy="73152"/>
          </a:xfrm>
          <a:prstGeom prst="ellipse">
            <a:avLst/>
          </a:prstGeom>
          <a:solidFill>
            <a:srgbClr val="FFF6EC"/>
          </a:solidFill>
          <a:ln/>
        </p:spPr>
      </p:sp>
      <p:sp>
        <p:nvSpPr>
          <p:cNvPr id="20" name="Shape 18"/>
          <p:cNvSpPr/>
          <p:nvPr/>
        </p:nvSpPr>
        <p:spPr>
          <a:xfrm>
            <a:off x="512064" y="5989320"/>
            <a:ext cx="109728" cy="82296"/>
          </a:xfrm>
          <a:prstGeom prst="ellipse">
            <a:avLst/>
          </a:prstGeom>
          <a:solidFill>
            <a:srgbClr val="FFF6EC"/>
          </a:solidFill>
          <a:ln/>
        </p:spPr>
      </p:sp>
      <p:sp>
        <p:nvSpPr>
          <p:cNvPr id="21" name="Shape 19"/>
          <p:cNvSpPr/>
          <p:nvPr/>
        </p:nvSpPr>
        <p:spPr>
          <a:xfrm>
            <a:off x="411480" y="292608"/>
            <a:ext cx="11365992" cy="841248"/>
          </a:xfrm>
          <a:prstGeom prst="roundRect">
            <a:avLst>
              <a:gd name="adj" fmla="val 13043"/>
            </a:avLst>
          </a:prstGeom>
          <a:solidFill>
            <a:srgbClr val="E8867B"/>
          </a:solidFill>
          <a:ln/>
        </p:spPr>
      </p:sp>
      <p:sp>
        <p:nvSpPr>
          <p:cNvPr id="22" name="Shape 20"/>
          <p:cNvSpPr/>
          <p:nvPr/>
        </p:nvSpPr>
        <p:spPr>
          <a:xfrm>
            <a:off x="411480" y="292608"/>
            <a:ext cx="164592" cy="841248"/>
          </a:xfrm>
          <a:prstGeom prst="roundRect">
            <a:avLst>
              <a:gd name="adj" fmla="val 33333"/>
            </a:avLst>
          </a:prstGeom>
          <a:solidFill>
            <a:srgbClr val="E8B94A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292608"/>
            <a:ext cx="822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06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463040" y="292608"/>
            <a:ext cx="100584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Googleスプレッドシート互換の戦略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692640" y="6547104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うさうさ研修工房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31520" y="141732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500" b="1" dirty="0">
                <a:solidFill>
                  <a:srgbClr val="4A34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使用関数をホワイトリストで固定する</a:t>
            </a:r>
            <a:endParaRPr lang="en-US" sz="1500" dirty="0"/>
          </a:p>
          <a:p>
            <a:pPr lvl="1" marL="355600" indent="-1778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4A34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IF / IFERROR / INDEX / MATCH / COUNT / SEARCH / ISNUMBER / MAX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4A34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FILTER等の新関数を避ける＝古いExcel対応も兼ねた一石二鳥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4A34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外部参照・definedNamesを使わない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4A34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検証はヒューリスティクスで自動化：先頭エントリ・必須パーツ・関数抽出・参照チェック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7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7FB069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5" name="Shape 3"/>
          <p:cNvSpPr/>
          <p:nvPr/>
        </p:nvSpPr>
        <p:spPr>
          <a:xfrm>
            <a:off x="1609344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6" name="Shape 4"/>
          <p:cNvSpPr/>
          <p:nvPr/>
        </p:nvSpPr>
        <p:spPr>
          <a:xfrm>
            <a:off x="2505456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7" name="Shape 5"/>
          <p:cNvSpPr/>
          <p:nvPr/>
        </p:nvSpPr>
        <p:spPr>
          <a:xfrm>
            <a:off x="3401568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8" name="Shape 6"/>
          <p:cNvSpPr/>
          <p:nvPr/>
        </p:nvSpPr>
        <p:spPr>
          <a:xfrm>
            <a:off x="4297680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9" name="Shape 7"/>
          <p:cNvSpPr/>
          <p:nvPr/>
        </p:nvSpPr>
        <p:spPr>
          <a:xfrm>
            <a:off x="5193792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0" name="Shape 8"/>
          <p:cNvSpPr/>
          <p:nvPr/>
        </p:nvSpPr>
        <p:spPr>
          <a:xfrm>
            <a:off x="6089904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1" name="Shape 9"/>
          <p:cNvSpPr/>
          <p:nvPr/>
        </p:nvSpPr>
        <p:spPr>
          <a:xfrm>
            <a:off x="6986016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2" name="Shape 10"/>
          <p:cNvSpPr/>
          <p:nvPr/>
        </p:nvSpPr>
        <p:spPr>
          <a:xfrm>
            <a:off x="7882128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3" name="Shape 11"/>
          <p:cNvSpPr/>
          <p:nvPr/>
        </p:nvSpPr>
        <p:spPr>
          <a:xfrm>
            <a:off x="8778240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4" name="Shape 12"/>
          <p:cNvSpPr/>
          <p:nvPr/>
        </p:nvSpPr>
        <p:spPr>
          <a:xfrm>
            <a:off x="9674352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5" name="Shape 13"/>
          <p:cNvSpPr/>
          <p:nvPr/>
        </p:nvSpPr>
        <p:spPr>
          <a:xfrm>
            <a:off x="10570464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6" name="Shape 14"/>
          <p:cNvSpPr/>
          <p:nvPr/>
        </p:nvSpPr>
        <p:spPr>
          <a:xfrm>
            <a:off x="11466576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7" name="Shape 15"/>
          <p:cNvSpPr/>
          <p:nvPr/>
        </p:nvSpPr>
        <p:spPr>
          <a:xfrm>
            <a:off x="384048" y="6199632"/>
            <a:ext cx="182880" cy="274320"/>
          </a:xfrm>
          <a:prstGeom prst="roundRect">
            <a:avLst>
              <a:gd name="adj" fmla="val 30000"/>
            </a:avLst>
          </a:prstGeom>
          <a:solidFill>
            <a:srgbClr val="FFF7E8"/>
          </a:solidFill>
          <a:ln w="12700">
            <a:solidFill>
              <a:srgbClr val="D9BC9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7744" y="5961888"/>
            <a:ext cx="475488" cy="310896"/>
          </a:xfrm>
          <a:prstGeom prst="ellipse">
            <a:avLst/>
          </a:prstGeom>
          <a:solidFill>
            <a:srgbClr val="D86E62"/>
          </a:solidFill>
          <a:ln w="12700">
            <a:solidFill>
              <a:srgbClr val="C9906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9184" y="6016752"/>
            <a:ext cx="91440" cy="73152"/>
          </a:xfrm>
          <a:prstGeom prst="ellipse">
            <a:avLst/>
          </a:prstGeom>
          <a:solidFill>
            <a:srgbClr val="FFF6EC"/>
          </a:solidFill>
          <a:ln/>
        </p:spPr>
      </p:sp>
      <p:sp>
        <p:nvSpPr>
          <p:cNvPr id="20" name="Shape 18"/>
          <p:cNvSpPr/>
          <p:nvPr/>
        </p:nvSpPr>
        <p:spPr>
          <a:xfrm>
            <a:off x="512064" y="5989320"/>
            <a:ext cx="109728" cy="82296"/>
          </a:xfrm>
          <a:prstGeom prst="ellipse">
            <a:avLst/>
          </a:prstGeom>
          <a:solidFill>
            <a:srgbClr val="FFF6EC"/>
          </a:solidFill>
          <a:ln/>
        </p:spPr>
      </p:sp>
      <p:sp>
        <p:nvSpPr>
          <p:cNvPr id="21" name="Shape 19"/>
          <p:cNvSpPr/>
          <p:nvPr/>
        </p:nvSpPr>
        <p:spPr>
          <a:xfrm>
            <a:off x="411480" y="292608"/>
            <a:ext cx="11365992" cy="841248"/>
          </a:xfrm>
          <a:prstGeom prst="roundRect">
            <a:avLst>
              <a:gd name="adj" fmla="val 13043"/>
            </a:avLst>
          </a:prstGeom>
          <a:solidFill>
            <a:srgbClr val="E8867B"/>
          </a:solidFill>
          <a:ln/>
        </p:spPr>
      </p:sp>
      <p:sp>
        <p:nvSpPr>
          <p:cNvPr id="22" name="Shape 20"/>
          <p:cNvSpPr/>
          <p:nvPr/>
        </p:nvSpPr>
        <p:spPr>
          <a:xfrm>
            <a:off x="411480" y="292608"/>
            <a:ext cx="164592" cy="841248"/>
          </a:xfrm>
          <a:prstGeom prst="roundRect">
            <a:avLst>
              <a:gd name="adj" fmla="val 33333"/>
            </a:avLst>
          </a:prstGeom>
          <a:solidFill>
            <a:srgbClr val="E8B94A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292608"/>
            <a:ext cx="822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07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463040" y="292608"/>
            <a:ext cx="100584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読み込み側：DecompressionStreamでZIP展開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692640" y="6547104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うさうさ研修工房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31520" y="1417320"/>
            <a:ext cx="53949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4A34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世間のxlsxはdeflate圧縮 → ブラウザ標準APIで展開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4A34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EOCDを末尾から探索（コメント考慮で末尾65557バイト走査）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4A34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セントラルディレクトリで名前・方式・位置を取得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4A34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method 8 → inflate / method 0 → そのまま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4A34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XMLはDOMParserに丸投げ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400800" y="1417320"/>
            <a:ext cx="5349240" cy="4663440"/>
          </a:xfrm>
          <a:prstGeom prst="roundRect">
            <a:avLst>
              <a:gd name="adj" fmla="val 1961"/>
            </a:avLst>
          </a:prstGeom>
          <a:solidFill>
            <a:srgbClr val="3E2E1E"/>
          </a:solidFill>
          <a:ln w="19050">
            <a:solidFill>
              <a:srgbClr val="F6DFA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37960" y="1527048"/>
            <a:ext cx="5074920" cy="4443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F6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function inflateRaw(u8){</a:t>
            </a:r>
            <a:endParaRPr lang="en-US" sz="1100" dirty="0"/>
          </a:p>
          <a:p>
            <a:pPr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F6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ds = new Blob([u8]).stream()</a:t>
            </a:r>
            <a:endParaRPr lang="en-US" sz="1100" dirty="0"/>
          </a:p>
          <a:p>
            <a:pPr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F6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.pipeThrough(</a:t>
            </a:r>
            <a:endParaRPr lang="en-US" sz="1100" dirty="0"/>
          </a:p>
          <a:p>
            <a:pPr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F6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new DecompressionStream(</a:t>
            </a:r>
            <a:endParaRPr lang="en-US" sz="1100" dirty="0"/>
          </a:p>
          <a:p>
            <a:pPr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F6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'deflate-raw'));</a:t>
            </a:r>
            <a:endParaRPr lang="en-US" sz="1100" dirty="0"/>
          </a:p>
          <a:p>
            <a:pPr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F6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await</a:t>
            </a:r>
            <a:endParaRPr lang="en-US" sz="1100" dirty="0"/>
          </a:p>
          <a:p>
            <a:pPr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F6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 Response(ds).text();</a:t>
            </a:r>
            <a:endParaRPr lang="en-US" sz="1100" dirty="0"/>
          </a:p>
          <a:p>
            <a:pPr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F6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ts val="1485"/>
              </a:lnSpc>
              <a:buNone/>
            </a:pPr>
            <a:endParaRPr lang="en-US" sz="1100" dirty="0"/>
          </a:p>
          <a:p>
            <a:pPr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F6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EOCD探索（末尾から）</a:t>
            </a:r>
            <a:endParaRPr lang="en-US" sz="1100" dirty="0"/>
          </a:p>
          <a:p>
            <a:pPr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F6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for(let i = len-22;</a:t>
            </a:r>
            <a:endParaRPr lang="en-US" sz="1100" dirty="0"/>
          </a:p>
          <a:p>
            <a:pPr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F6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 &gt;= len-65557; i--){</a:t>
            </a:r>
            <a:endParaRPr lang="en-US" sz="1100" dirty="0"/>
          </a:p>
          <a:p>
            <a:pPr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F6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if(dv.getUint32(i,true)</a:t>
            </a:r>
            <a:endParaRPr lang="en-US" sz="1100" dirty="0"/>
          </a:p>
          <a:p>
            <a:pPr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F6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=== 0x06054b50) ...</a:t>
            </a:r>
            <a:endParaRPr lang="en-US" sz="1100" dirty="0"/>
          </a:p>
          <a:p>
            <a:pPr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F6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7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7FB069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5" name="Shape 3"/>
          <p:cNvSpPr/>
          <p:nvPr/>
        </p:nvSpPr>
        <p:spPr>
          <a:xfrm>
            <a:off x="1609344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6" name="Shape 4"/>
          <p:cNvSpPr/>
          <p:nvPr/>
        </p:nvSpPr>
        <p:spPr>
          <a:xfrm>
            <a:off x="2505456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7" name="Shape 5"/>
          <p:cNvSpPr/>
          <p:nvPr/>
        </p:nvSpPr>
        <p:spPr>
          <a:xfrm>
            <a:off x="3401568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8" name="Shape 6"/>
          <p:cNvSpPr/>
          <p:nvPr/>
        </p:nvSpPr>
        <p:spPr>
          <a:xfrm>
            <a:off x="4297680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9" name="Shape 7"/>
          <p:cNvSpPr/>
          <p:nvPr/>
        </p:nvSpPr>
        <p:spPr>
          <a:xfrm>
            <a:off x="5193792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0" name="Shape 8"/>
          <p:cNvSpPr/>
          <p:nvPr/>
        </p:nvSpPr>
        <p:spPr>
          <a:xfrm>
            <a:off x="6089904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1" name="Shape 9"/>
          <p:cNvSpPr/>
          <p:nvPr/>
        </p:nvSpPr>
        <p:spPr>
          <a:xfrm>
            <a:off x="6986016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2" name="Shape 10"/>
          <p:cNvSpPr/>
          <p:nvPr/>
        </p:nvSpPr>
        <p:spPr>
          <a:xfrm>
            <a:off x="7882128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3" name="Shape 11"/>
          <p:cNvSpPr/>
          <p:nvPr/>
        </p:nvSpPr>
        <p:spPr>
          <a:xfrm>
            <a:off x="8778240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4" name="Shape 12"/>
          <p:cNvSpPr/>
          <p:nvPr/>
        </p:nvSpPr>
        <p:spPr>
          <a:xfrm>
            <a:off x="9674352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5" name="Shape 13"/>
          <p:cNvSpPr/>
          <p:nvPr/>
        </p:nvSpPr>
        <p:spPr>
          <a:xfrm>
            <a:off x="10570464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6" name="Shape 14"/>
          <p:cNvSpPr/>
          <p:nvPr/>
        </p:nvSpPr>
        <p:spPr>
          <a:xfrm>
            <a:off x="11466576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7" name="Shape 15"/>
          <p:cNvSpPr/>
          <p:nvPr/>
        </p:nvSpPr>
        <p:spPr>
          <a:xfrm>
            <a:off x="384048" y="6199632"/>
            <a:ext cx="182880" cy="274320"/>
          </a:xfrm>
          <a:prstGeom prst="roundRect">
            <a:avLst>
              <a:gd name="adj" fmla="val 30000"/>
            </a:avLst>
          </a:prstGeom>
          <a:solidFill>
            <a:srgbClr val="FFF7E8"/>
          </a:solidFill>
          <a:ln w="12700">
            <a:solidFill>
              <a:srgbClr val="D9BC9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7744" y="5961888"/>
            <a:ext cx="475488" cy="310896"/>
          </a:xfrm>
          <a:prstGeom prst="ellipse">
            <a:avLst/>
          </a:prstGeom>
          <a:solidFill>
            <a:srgbClr val="D86E62"/>
          </a:solidFill>
          <a:ln w="12700">
            <a:solidFill>
              <a:srgbClr val="C9906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9184" y="6016752"/>
            <a:ext cx="91440" cy="73152"/>
          </a:xfrm>
          <a:prstGeom prst="ellipse">
            <a:avLst/>
          </a:prstGeom>
          <a:solidFill>
            <a:srgbClr val="FFF6EC"/>
          </a:solidFill>
          <a:ln/>
        </p:spPr>
      </p:sp>
      <p:sp>
        <p:nvSpPr>
          <p:cNvPr id="20" name="Shape 18"/>
          <p:cNvSpPr/>
          <p:nvPr/>
        </p:nvSpPr>
        <p:spPr>
          <a:xfrm>
            <a:off x="512064" y="5989320"/>
            <a:ext cx="109728" cy="82296"/>
          </a:xfrm>
          <a:prstGeom prst="ellipse">
            <a:avLst/>
          </a:prstGeom>
          <a:solidFill>
            <a:srgbClr val="FFF6EC"/>
          </a:solidFill>
          <a:ln/>
        </p:spPr>
      </p:sp>
      <p:sp>
        <p:nvSpPr>
          <p:cNvPr id="21" name="Shape 19"/>
          <p:cNvSpPr/>
          <p:nvPr/>
        </p:nvSpPr>
        <p:spPr>
          <a:xfrm>
            <a:off x="411480" y="292608"/>
            <a:ext cx="11365992" cy="841248"/>
          </a:xfrm>
          <a:prstGeom prst="roundRect">
            <a:avLst>
              <a:gd name="adj" fmla="val 13043"/>
            </a:avLst>
          </a:prstGeom>
          <a:solidFill>
            <a:srgbClr val="E8867B"/>
          </a:solidFill>
          <a:ln/>
        </p:spPr>
      </p:sp>
      <p:sp>
        <p:nvSpPr>
          <p:cNvPr id="22" name="Shape 20"/>
          <p:cNvSpPr/>
          <p:nvPr/>
        </p:nvSpPr>
        <p:spPr>
          <a:xfrm>
            <a:off x="411480" y="292608"/>
            <a:ext cx="164592" cy="841248"/>
          </a:xfrm>
          <a:prstGeom prst="roundRect">
            <a:avLst>
              <a:gd name="adj" fmla="val 33333"/>
            </a:avLst>
          </a:prstGeom>
          <a:solidFill>
            <a:srgbClr val="E8B94A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292608"/>
            <a:ext cx="822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08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463040" y="292608"/>
            <a:ext cx="100584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実装で踏んだ罠2つ（1敗ずつ）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692640" y="6547104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うさうさ研修工房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31520" y="141732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4A34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罠1：共有文字列のリッチテキスト</a:t>
            </a:r>
            <a:endParaRPr lang="en-US" sz="1500" dirty="0"/>
          </a:p>
          <a:p>
            <a:pPr lvl="1" marL="355600" indent="-177800">
              <a:spcAft>
                <a:spcPts val="400"/>
              </a:spcAft>
              <a:buSzPct val="100000"/>
              <a:buChar char="●"/>
            </a:pPr>
            <a:r>
              <a:rPr lang="en-US" sz="1500" dirty="0">
                <a:solidFill>
                  <a:srgbClr val="4A34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&lt;si&gt;直下が&lt;t&gt;とは限らず&lt;r&gt;&lt;t&gt;の断片に分かれる</a:t>
            </a:r>
            <a:endParaRPr lang="en-US" sz="1500" dirty="0"/>
          </a:p>
          <a:p>
            <a:pPr lvl="1" marL="355600" indent="-177800">
              <a:spcAft>
                <a:spcPts val="1200"/>
              </a:spcAft>
              <a:buSzPct val="100000"/>
              <a:buChar char="●"/>
            </a:pPr>
            <a:r>
              <a:rPr lang="en-US" sz="1500" b="1" dirty="0">
                <a:solidFill>
                  <a:srgbClr val="4A34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si.querySelectorAll("t") を全部連結する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4A34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罠2：行の歯抜け（スパース配列）</a:t>
            </a:r>
            <a:endParaRPr lang="en-US" sz="1500" dirty="0"/>
          </a:p>
          <a:p>
            <a:pPr lvl="1" marL="355600" indent="-177800">
              <a:spcAft>
                <a:spcPts val="400"/>
              </a:spcAft>
              <a:buSzPct val="100000"/>
              <a:buChar char="●"/>
            </a:pPr>
            <a:r>
              <a:rPr lang="en-US" sz="1500" dirty="0">
                <a:solidFill>
                  <a:srgbClr val="4A34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行番号r属性で rows[r-1] に詰めると配列に穴があく</a:t>
            </a:r>
            <a:endParaRPr lang="en-US" sz="1500" dirty="0"/>
          </a:p>
          <a:p>
            <a:pPr lvl="1" marL="355600" indent="-177800">
              <a:spcAft>
                <a:spcPts val="400"/>
              </a:spcAft>
              <a:buSzPct val="100000"/>
              <a:buChar char="●"/>
            </a:pPr>
            <a:r>
              <a:rPr lang="en-US" sz="1500" dirty="0">
                <a:solidFill>
                  <a:srgbClr val="4A34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Array.prototype.map は空スロットをスキップする仕様</a:t>
            </a:r>
            <a:endParaRPr lang="en-US" sz="1500" dirty="0"/>
          </a:p>
          <a:p>
            <a:pPr lvl="1" marL="355600" indent="-177800">
              <a:spcAft>
                <a:spcPts val="800"/>
              </a:spcAft>
              <a:buSzPct val="100000"/>
              <a:buChar char="●"/>
            </a:pPr>
            <a:r>
              <a:rPr lang="en-US" sz="1500" b="1" dirty="0">
                <a:solidFill>
                  <a:srgbClr val="4A34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Array.from(rows, r =&gt; r || []) で穴を埋めてから処理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7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7FB069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5" name="Shape 3"/>
          <p:cNvSpPr/>
          <p:nvPr/>
        </p:nvSpPr>
        <p:spPr>
          <a:xfrm>
            <a:off x="1609344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6" name="Shape 4"/>
          <p:cNvSpPr/>
          <p:nvPr/>
        </p:nvSpPr>
        <p:spPr>
          <a:xfrm>
            <a:off x="2505456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7" name="Shape 5"/>
          <p:cNvSpPr/>
          <p:nvPr/>
        </p:nvSpPr>
        <p:spPr>
          <a:xfrm>
            <a:off x="3401568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8" name="Shape 6"/>
          <p:cNvSpPr/>
          <p:nvPr/>
        </p:nvSpPr>
        <p:spPr>
          <a:xfrm>
            <a:off x="4297680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9" name="Shape 7"/>
          <p:cNvSpPr/>
          <p:nvPr/>
        </p:nvSpPr>
        <p:spPr>
          <a:xfrm>
            <a:off x="5193792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0" name="Shape 8"/>
          <p:cNvSpPr/>
          <p:nvPr/>
        </p:nvSpPr>
        <p:spPr>
          <a:xfrm>
            <a:off x="6089904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1" name="Shape 9"/>
          <p:cNvSpPr/>
          <p:nvPr/>
        </p:nvSpPr>
        <p:spPr>
          <a:xfrm>
            <a:off x="6986016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2" name="Shape 10"/>
          <p:cNvSpPr/>
          <p:nvPr/>
        </p:nvSpPr>
        <p:spPr>
          <a:xfrm>
            <a:off x="7882128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3" name="Shape 11"/>
          <p:cNvSpPr/>
          <p:nvPr/>
        </p:nvSpPr>
        <p:spPr>
          <a:xfrm>
            <a:off x="8778240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4" name="Shape 12"/>
          <p:cNvSpPr/>
          <p:nvPr/>
        </p:nvSpPr>
        <p:spPr>
          <a:xfrm>
            <a:off x="9674352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5" name="Shape 13"/>
          <p:cNvSpPr/>
          <p:nvPr/>
        </p:nvSpPr>
        <p:spPr>
          <a:xfrm>
            <a:off x="10570464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6" name="Shape 14"/>
          <p:cNvSpPr/>
          <p:nvPr/>
        </p:nvSpPr>
        <p:spPr>
          <a:xfrm>
            <a:off x="11466576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7" name="Shape 15"/>
          <p:cNvSpPr/>
          <p:nvPr/>
        </p:nvSpPr>
        <p:spPr>
          <a:xfrm>
            <a:off x="384048" y="6199632"/>
            <a:ext cx="182880" cy="274320"/>
          </a:xfrm>
          <a:prstGeom prst="roundRect">
            <a:avLst>
              <a:gd name="adj" fmla="val 30000"/>
            </a:avLst>
          </a:prstGeom>
          <a:solidFill>
            <a:srgbClr val="FFF7E8"/>
          </a:solidFill>
          <a:ln w="12700">
            <a:solidFill>
              <a:srgbClr val="D9BC9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7744" y="5961888"/>
            <a:ext cx="475488" cy="310896"/>
          </a:xfrm>
          <a:prstGeom prst="ellipse">
            <a:avLst/>
          </a:prstGeom>
          <a:solidFill>
            <a:srgbClr val="D86E62"/>
          </a:solidFill>
          <a:ln w="12700">
            <a:solidFill>
              <a:srgbClr val="C9906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9184" y="6016752"/>
            <a:ext cx="91440" cy="73152"/>
          </a:xfrm>
          <a:prstGeom prst="ellipse">
            <a:avLst/>
          </a:prstGeom>
          <a:solidFill>
            <a:srgbClr val="FFF6EC"/>
          </a:solidFill>
          <a:ln/>
        </p:spPr>
      </p:sp>
      <p:sp>
        <p:nvSpPr>
          <p:cNvPr id="20" name="Shape 18"/>
          <p:cNvSpPr/>
          <p:nvPr/>
        </p:nvSpPr>
        <p:spPr>
          <a:xfrm>
            <a:off x="512064" y="5989320"/>
            <a:ext cx="109728" cy="82296"/>
          </a:xfrm>
          <a:prstGeom prst="ellipse">
            <a:avLst/>
          </a:prstGeom>
          <a:solidFill>
            <a:srgbClr val="FFF6EC"/>
          </a:solidFill>
          <a:ln/>
        </p:spPr>
      </p:sp>
      <p:sp>
        <p:nvSpPr>
          <p:cNvPr id="21" name="Shape 19"/>
          <p:cNvSpPr/>
          <p:nvPr/>
        </p:nvSpPr>
        <p:spPr>
          <a:xfrm>
            <a:off x="411480" y="292608"/>
            <a:ext cx="11365992" cy="841248"/>
          </a:xfrm>
          <a:prstGeom prst="roundRect">
            <a:avLst>
              <a:gd name="adj" fmla="val 13043"/>
            </a:avLst>
          </a:prstGeom>
          <a:solidFill>
            <a:srgbClr val="E8867B"/>
          </a:solidFill>
          <a:ln/>
        </p:spPr>
      </p:sp>
      <p:sp>
        <p:nvSpPr>
          <p:cNvPr id="22" name="Shape 20"/>
          <p:cNvSpPr/>
          <p:nvPr/>
        </p:nvSpPr>
        <p:spPr>
          <a:xfrm>
            <a:off x="411480" y="292608"/>
            <a:ext cx="164592" cy="841248"/>
          </a:xfrm>
          <a:prstGeom prst="roundRect">
            <a:avLst>
              <a:gd name="adj" fmla="val 33333"/>
            </a:avLst>
          </a:prstGeom>
          <a:solidFill>
            <a:srgbClr val="E8B94A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292608"/>
            <a:ext cx="822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09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463040" y="292608"/>
            <a:ext cx="100584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検証：jsdom + LibreOffice headless の二段構え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692640" y="6547104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うさうさ研修工房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31520" y="141732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4A34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jsdomにはDecompressionStreamがない → Nodeのグローバルを注入</a:t>
            </a:r>
            <a:endParaRPr lang="en-US" sz="1500" dirty="0"/>
          </a:p>
          <a:p>
            <a:pPr lvl="1" marL="3556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4A34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w.DecompressionStream = DecompressionStream（Node 18+）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4A34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数式の正しさは静的検査では保証できない</a:t>
            </a:r>
            <a:endParaRPr lang="en-US" sz="1500" dirty="0"/>
          </a:p>
          <a:p>
            <a:pPr lvl="1" marL="355600" indent="-1778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4A34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soffice --headless で実際に開かせて再計算 → エラー値0件を確認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4A34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自己往復テスト：出力xlsxを自分のパーサで読み戻して全件一致</a:t>
            </a:r>
            <a:endParaRPr lang="en-US" sz="1500" dirty="0"/>
          </a:p>
          <a:p>
            <a:pPr lvl="1" marL="355600" indent="-177800">
              <a:spcAft>
                <a:spcPts val="600"/>
              </a:spcAft>
              <a:buSzPct val="100000"/>
              <a:buChar char="●"/>
            </a:pPr>
            <a:r>
              <a:rPr lang="en-US" sz="1500" dirty="0">
                <a:solidFill>
                  <a:srgbClr val="4A34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エッジデータ：改行・引用符・タグ・アンパサンド・制御文字</a:t>
            </a:r>
            <a:endParaRPr lang="en-US" sz="1500" dirty="0"/>
          </a:p>
          <a:p>
            <a:pPr lvl="1" marL="355600" indent="-177800">
              <a:spcAft>
                <a:spcPts val="800"/>
              </a:spcAft>
              <a:buSzPct val="100000"/>
              <a:buChar char="●"/>
            </a:pPr>
            <a:r>
              <a:rPr lang="en-US" sz="1500" b="1" dirty="0">
                <a:solidFill>
                  <a:srgbClr val="4A34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制御文字(u0000-u0008等)はXML不正でファイルを壊す → エスケープ前に除去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7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7FB069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5" name="Shape 3"/>
          <p:cNvSpPr/>
          <p:nvPr/>
        </p:nvSpPr>
        <p:spPr>
          <a:xfrm>
            <a:off x="1609344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6" name="Shape 4"/>
          <p:cNvSpPr/>
          <p:nvPr/>
        </p:nvSpPr>
        <p:spPr>
          <a:xfrm>
            <a:off x="2505456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7" name="Shape 5"/>
          <p:cNvSpPr/>
          <p:nvPr/>
        </p:nvSpPr>
        <p:spPr>
          <a:xfrm>
            <a:off x="3401568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8" name="Shape 6"/>
          <p:cNvSpPr/>
          <p:nvPr/>
        </p:nvSpPr>
        <p:spPr>
          <a:xfrm>
            <a:off x="4297680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9" name="Shape 7"/>
          <p:cNvSpPr/>
          <p:nvPr/>
        </p:nvSpPr>
        <p:spPr>
          <a:xfrm>
            <a:off x="5193792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0" name="Shape 8"/>
          <p:cNvSpPr/>
          <p:nvPr/>
        </p:nvSpPr>
        <p:spPr>
          <a:xfrm>
            <a:off x="6089904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1" name="Shape 9"/>
          <p:cNvSpPr/>
          <p:nvPr/>
        </p:nvSpPr>
        <p:spPr>
          <a:xfrm>
            <a:off x="6986016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2" name="Shape 10"/>
          <p:cNvSpPr/>
          <p:nvPr/>
        </p:nvSpPr>
        <p:spPr>
          <a:xfrm>
            <a:off x="7882128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3" name="Shape 11"/>
          <p:cNvSpPr/>
          <p:nvPr/>
        </p:nvSpPr>
        <p:spPr>
          <a:xfrm>
            <a:off x="8778240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4" name="Shape 12"/>
          <p:cNvSpPr/>
          <p:nvPr/>
        </p:nvSpPr>
        <p:spPr>
          <a:xfrm>
            <a:off x="9674352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5" name="Shape 13"/>
          <p:cNvSpPr/>
          <p:nvPr/>
        </p:nvSpPr>
        <p:spPr>
          <a:xfrm>
            <a:off x="10570464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6" name="Shape 14"/>
          <p:cNvSpPr/>
          <p:nvPr/>
        </p:nvSpPr>
        <p:spPr>
          <a:xfrm>
            <a:off x="11466576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7" name="Shape 15"/>
          <p:cNvSpPr/>
          <p:nvPr/>
        </p:nvSpPr>
        <p:spPr>
          <a:xfrm>
            <a:off x="384048" y="6199632"/>
            <a:ext cx="182880" cy="274320"/>
          </a:xfrm>
          <a:prstGeom prst="roundRect">
            <a:avLst>
              <a:gd name="adj" fmla="val 30000"/>
            </a:avLst>
          </a:prstGeom>
          <a:solidFill>
            <a:srgbClr val="FFF7E8"/>
          </a:solidFill>
          <a:ln w="12700">
            <a:solidFill>
              <a:srgbClr val="D9BC9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7744" y="5961888"/>
            <a:ext cx="475488" cy="310896"/>
          </a:xfrm>
          <a:prstGeom prst="ellipse">
            <a:avLst/>
          </a:prstGeom>
          <a:solidFill>
            <a:srgbClr val="D86E62"/>
          </a:solidFill>
          <a:ln w="12700">
            <a:solidFill>
              <a:srgbClr val="C9906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9184" y="6016752"/>
            <a:ext cx="91440" cy="73152"/>
          </a:xfrm>
          <a:prstGeom prst="ellipse">
            <a:avLst/>
          </a:prstGeom>
          <a:solidFill>
            <a:srgbClr val="FFF6EC"/>
          </a:solidFill>
          <a:ln/>
        </p:spPr>
      </p:sp>
      <p:sp>
        <p:nvSpPr>
          <p:cNvPr id="20" name="Shape 18"/>
          <p:cNvSpPr/>
          <p:nvPr/>
        </p:nvSpPr>
        <p:spPr>
          <a:xfrm>
            <a:off x="512064" y="5989320"/>
            <a:ext cx="109728" cy="82296"/>
          </a:xfrm>
          <a:prstGeom prst="ellipse">
            <a:avLst/>
          </a:prstGeom>
          <a:solidFill>
            <a:srgbClr val="FFF6EC"/>
          </a:solidFill>
          <a:ln/>
        </p:spPr>
      </p:sp>
      <p:sp>
        <p:nvSpPr>
          <p:cNvPr id="21" name="Shape 19"/>
          <p:cNvSpPr/>
          <p:nvPr/>
        </p:nvSpPr>
        <p:spPr>
          <a:xfrm>
            <a:off x="411480" y="292608"/>
            <a:ext cx="11365992" cy="841248"/>
          </a:xfrm>
          <a:prstGeom prst="roundRect">
            <a:avLst>
              <a:gd name="adj" fmla="val 13043"/>
            </a:avLst>
          </a:prstGeom>
          <a:solidFill>
            <a:srgbClr val="E8867B"/>
          </a:solidFill>
          <a:ln/>
        </p:spPr>
      </p:sp>
      <p:sp>
        <p:nvSpPr>
          <p:cNvPr id="22" name="Shape 20"/>
          <p:cNvSpPr/>
          <p:nvPr/>
        </p:nvSpPr>
        <p:spPr>
          <a:xfrm>
            <a:off x="411480" y="292608"/>
            <a:ext cx="164592" cy="841248"/>
          </a:xfrm>
          <a:prstGeom prst="roundRect">
            <a:avLst>
              <a:gd name="adj" fmla="val 33333"/>
            </a:avLst>
          </a:prstGeom>
          <a:solidFill>
            <a:srgbClr val="E8B94A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292608"/>
            <a:ext cx="822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463040" y="292608"/>
            <a:ext cx="100584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まとめ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692640" y="6547104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うさうさ研修工房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22960" y="1737360"/>
            <a:ext cx="10515600" cy="2377440"/>
          </a:xfrm>
          <a:prstGeom prst="roundRect">
            <a:avLst>
              <a:gd name="adj" fmla="val 5769"/>
            </a:avLst>
          </a:prstGeom>
          <a:solidFill>
            <a:srgbClr val="FFF2DC"/>
          </a:solidFill>
          <a:ln w="25400">
            <a:solidFill>
              <a:srgbClr val="E8B94A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1097280" y="18745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6A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一行まとめ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97280" y="2377440"/>
            <a:ext cx="99669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4A34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xlsx＝「無圧縮ZIP + 最小OOXML」と割り切れば依存ゼロで読み書きできる。数式はA1の&lt;f&gt; + fullCalcOnLoadで三大表計算の互換を取り、最後はLibreOffice実計算と自己往復で殴って確かめる。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822960" y="45720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7A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環境依存の「エラー:509」に悩んだら、SpreadsheetMLから標準OOXMLへの引っ越しを。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22960" y="5669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7A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「面白きこともなき世を面白く」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2026-06-06T01:18:44Z</dcterms:created>
  <dcterms:modified xsi:type="dcterms:W3CDTF">2026-06-06T01:18:44Z</dcterms:modified>
</cp:coreProperties>
</file>