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1371600"/>
            <a:ext cx="10332720" cy="3108960"/>
          </a:xfrm>
          <a:prstGeom prst="roundRect">
            <a:avLst>
              <a:gd name="adj" fmla="val 5882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1371600"/>
            <a:ext cx="10332720" cy="594360"/>
          </a:xfrm>
          <a:prstGeom prst="roundRect">
            <a:avLst>
              <a:gd name="adj" fmla="val 30769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13716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Qiita実装仕様・新人向け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2148840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ライブラリゼロで作る「研修ツール」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188720" y="315468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7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単一HTMLファイルに全部入れる実装入門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JavaScript / HTML / 社内ツール / フロントエンド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0" y="502920"/>
            <a:ext cx="566928" cy="713232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9050">
            <a:solidFill>
              <a:srgbClr val="D9BC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4080" y="109728"/>
            <a:ext cx="1143000" cy="685800"/>
          </a:xfrm>
          <a:prstGeom prst="ellipse">
            <a:avLst/>
          </a:prstGeom>
          <a:solidFill>
            <a:srgbClr val="D86E62"/>
          </a:solidFill>
          <a:ln w="19050">
            <a:solidFill>
              <a:srgbClr val="C990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256032"/>
            <a:ext cx="201168" cy="155448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69880" y="182880"/>
            <a:ext cx="237744" cy="182880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「面白きこともなき世を面白く」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なぜ単一HTML？ - 現場の制約から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研修会場の現実</a:t>
            </a:r>
            <a:endParaRPr lang="en-US" sz="17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会場PCにソフトをインストールできない</a:t>
            </a:r>
            <a:endParaRPr lang="en-US" sz="17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ネットワークが不安定、または制限されている</a:t>
            </a:r>
            <a:endParaRPr lang="en-US" sz="17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「USBで渡してすぐ動く」が正義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導かれる要件</a:t>
            </a:r>
            <a:endParaRPr lang="en-US" sz="17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依存ゼロ・ビルドなし・オフライン動作</a:t>
            </a:r>
            <a:endParaRPr lang="en-US" sz="1700" dirty="0"/>
          </a:p>
          <a:p>
            <a:pPr lvl="1" marL="3556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答え：index.html 1枚構成（ダブルクリックで起動）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土台の5パターン（全体像）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16459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6DFA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1645920"/>
            <a:ext cx="3566160" cy="128016"/>
          </a:xfrm>
          <a:prstGeom prst="rect">
            <a:avLst/>
          </a:prstGeom>
          <a:solidFill>
            <a:srgbClr val="E8867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タブUI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2514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クラスの付け替えだけ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80560" y="16459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6DFA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1645920"/>
            <a:ext cx="3566160" cy="128016"/>
          </a:xfrm>
          <a:prstGeom prst="rect">
            <a:avLst/>
          </a:prstGeom>
          <a:solidFill>
            <a:srgbClr val="E8867B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状態管理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663440" y="2514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1つのオブジェクトに集約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321040" y="164592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6DFA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1645920"/>
            <a:ext cx="3566160" cy="128016"/>
          </a:xfrm>
          <a:prstGeom prst="rect">
            <a:avLst/>
          </a:prstGeom>
          <a:solidFill>
            <a:srgbClr val="E8867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1874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自動保存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503920" y="25146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 + try/catch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6DFA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749040"/>
            <a:ext cx="3566160" cy="128016"/>
          </a:xfrm>
          <a:prstGeom prst="rect">
            <a:avLst/>
          </a:prstGeom>
          <a:solidFill>
            <a:srgbClr val="E8867B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直接編集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2296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contenteditable + 委譲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480560" y="374904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6DF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3749040"/>
            <a:ext cx="3566160" cy="128016"/>
          </a:xfrm>
          <a:prstGeom prst="rect">
            <a:avLst/>
          </a:prstGeom>
          <a:solidFill>
            <a:srgbClr val="E8867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ファイル出力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663440" y="4617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Blob + a要素 + 日時刻印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A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この5点セットで、インストール不要の現場ツールが成立する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パターン1：タブUIはクラス付け替えだけ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data-tab属性でボタンとセクションを紐づけ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CSSは2行：.tab{display:none} / .tab.active{display:block}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ライブラリ不要・履歴も状態も持たない最小構成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go(id){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document.querySelectorAll('.tab')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.forEach(t =&gt; t.classList.toggle(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'active', t.id === id));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document.querySelectorAll('#nav button')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.forEach(b =&gt; b.classList.toggle(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'active', b.dataset.tab === id));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data-tab="tab-search"&gt;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検索&lt;/button&gt;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id="tab-search"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class="tab"&gt;...&lt;/section&gt;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パターン2：状態は1つのオブジェクトに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データの置き場所を S ひとつに統一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保存も復元も JSON.stringify / parse の一撃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フレームワーク利用時にも効く考え方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emptyState = () =&gt; ({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meta: 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'',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world: 'うさうさラーメン店'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questions: [],  // 質問DB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qlog: []        // 当日の質問ログ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 = emptyState();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保存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JSON.stringify(S);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復元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Object.assign(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emptyState(), JSON.parse(saved));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パターン3：自動保存は try/catch で包む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localStorageは環境により例外を投げる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（プライベートモード・企業ポリシー等）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保存に失敗してもツール本体は動き続けること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逃げ道：JSONファイルへの手動バックアップを併設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autosave(){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localStorage.setItem(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'usausa_qgen_v1',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JSON.stringify(S));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catch(e) 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保存不可でも落とさない */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編集中は600msデバウンス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timer;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autosaveSoon(){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clearTimeout(timer);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timer = setTimeout(autosave, 600);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パターン4：表の直接編集は contenteditable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属性1つでExcel風のセル編集が手に入る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イベントは行ごとに付けず、表に1個だけ（委譲）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行の追加・削除でも付け直し不要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data-i / data-c で「どの行のどの列か」を運ぶ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 contenteditable="true"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data-i="0" data-c="question"&gt;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VPCって何ですか？&lt;/td&gt;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table.addEventListener('input', e =&gt; 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td = e.target;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S.questions[td.dataset.i]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[td.dataset.c]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td.innerText;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autosaveSoon();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パターン5：ダウンロードは Blob + a要素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サーバーなしでブラウザだけでファイルを生成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日時プレフィックスをdownload関数の中で必ず付与</a:t>
            </a:r>
            <a:endParaRPr lang="en-US" sz="1500" dirty="0"/>
          </a:p>
          <a:p>
            <a:pPr lvl="1" marL="3556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「どれが最新？」問題が消える、現場で一番効く仕様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download(name, content, mime){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stamp() + '_' + name;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例: 20260606_1530_想定質問集.xlsx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blob =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Blob([content], {type: mime});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document.createElement('a');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a.href = URL.createObjectURL(blob);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a.download = name;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a.click();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URL.revokeObjectURL(a.href);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新人さんが必ず踏む穴：エスケープ（XSS）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1417320"/>
            <a:ext cx="5394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外部データを innerHTML に入れる前に必ずエスケープ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インポート機能がある時点で「外部データ」は入ってくる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「自分しか使わないから」は通用しない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表示系の全箇所で esc() を通すのを習慣に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0" y="1417320"/>
            <a:ext cx="5349240" cy="4663440"/>
          </a:xfrm>
          <a:prstGeom prst="roundRect">
            <a:avLst>
              <a:gd name="adj" fmla="val 1961"/>
            </a:avLst>
          </a:prstGeom>
          <a:solidFill>
            <a:srgbClr val="3E2E1E"/>
          </a:solidFill>
          <a:ln w="19050">
            <a:solidFill>
              <a:srgbClr val="F6D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27048"/>
            <a:ext cx="5074920" cy="4443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esc(s){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String(s ?? '')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.replace(/&amp;/g,'&amp;amp;')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.replace(/&lt;/g,'&amp;lt;')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.replace(/&gt;/g,'&amp;gt;');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必ずescを通してから差し込む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el.innerHTML =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'&lt;div class="q"&gt;'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F6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esc(q.question) + '&lt;/div&gt;';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FB06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6" name="Shape 4"/>
          <p:cNvSpPr/>
          <p:nvPr/>
        </p:nvSpPr>
        <p:spPr>
          <a:xfrm>
            <a:off x="250545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7" name="Shape 5"/>
          <p:cNvSpPr/>
          <p:nvPr/>
        </p:nvSpPr>
        <p:spPr>
          <a:xfrm>
            <a:off x="340156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9" name="Shape 7"/>
          <p:cNvSpPr/>
          <p:nvPr/>
        </p:nvSpPr>
        <p:spPr>
          <a:xfrm>
            <a:off x="519379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990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1" name="Shape 9"/>
          <p:cNvSpPr/>
          <p:nvPr/>
        </p:nvSpPr>
        <p:spPr>
          <a:xfrm>
            <a:off x="698601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2128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4352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70464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66576" y="6419088"/>
            <a:ext cx="914400" cy="329184"/>
          </a:xfrm>
          <a:prstGeom prst="ellipse">
            <a:avLst/>
          </a:prstGeom>
          <a:solidFill>
            <a:srgbClr val="7FB069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" y="6199632"/>
            <a:ext cx="182880" cy="274320"/>
          </a:xfrm>
          <a:prstGeom prst="roundRect">
            <a:avLst>
              <a:gd name="adj" fmla="val 30000"/>
            </a:avLst>
          </a:prstGeom>
          <a:solidFill>
            <a:srgbClr val="FFF7E8"/>
          </a:solidFill>
          <a:ln w="12700">
            <a:solidFill>
              <a:srgbClr val="D9BC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961888"/>
            <a:ext cx="475488" cy="310896"/>
          </a:xfrm>
          <a:prstGeom prst="ellipse">
            <a:avLst/>
          </a:prstGeom>
          <a:solidFill>
            <a:srgbClr val="D86E62"/>
          </a:solidFill>
          <a:ln w="12700">
            <a:solidFill>
              <a:srgbClr val="C99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6016752"/>
            <a:ext cx="91440" cy="73152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" y="5989320"/>
            <a:ext cx="109728" cy="82296"/>
          </a:xfrm>
          <a:prstGeom prst="ellipse">
            <a:avLst/>
          </a:prstGeom>
          <a:solidFill>
            <a:srgbClr val="FF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92608"/>
            <a:ext cx="11365992" cy="841248"/>
          </a:xfrm>
          <a:prstGeom prst="roundRect">
            <a:avLst>
              <a:gd name="adj" fmla="val 13043"/>
            </a:avLst>
          </a:prstGeom>
          <a:solidFill>
            <a:srgbClr val="E8867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92608"/>
            <a:ext cx="164592" cy="841248"/>
          </a:xfrm>
          <a:prstGeom prst="roundRect">
            <a:avLst>
              <a:gd name="adj" fmla="val 33333"/>
            </a:avLst>
          </a:prstGeom>
          <a:solidFill>
            <a:srgbClr val="E8B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9260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63040" y="292608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92640" y="6547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1737360"/>
            <a:ext cx="10515600" cy="2377440"/>
          </a:xfrm>
          <a:prstGeom prst="roundRect">
            <a:avLst>
              <a:gd name="adj" fmla="val 5769"/>
            </a:avLst>
          </a:prstGeom>
          <a:solidFill>
            <a:srgbClr val="FFF2DC"/>
          </a:solidFill>
          <a:ln w="25400">
            <a:solidFill>
              <a:srgbClr val="E8B94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972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A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一行まとめ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237744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4A34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タブ＝クラス付け替え、状態＝1オブジェクト、保存＝localStorage+JSON、編集＝contenteditable、出力＝Blob。この5点セットで、インストール不要の現場ツールは作れる。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次回（中級編）：ライブラリなしで .xlsx を読み書きする実装 - 「エラー:509」事件の顛末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7A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「面白きこともなき世を面白く」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2026-06-06T01:18:44Z</dcterms:created>
  <dcterms:modified xsi:type="dcterms:W3CDTF">2026-06-06T01:18:44Z</dcterms:modified>
</cp:coreProperties>
</file>